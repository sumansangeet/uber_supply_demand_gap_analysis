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Medium" panose="020B0604020202020204" charset="-78"/>
      <p:regular r:id="rId13"/>
    </p:embeddedFont>
    <p:embeddedFont>
      <p:font typeface="Impact" panose="020B0806030902050204" pitchFamily="34" charset="0"/>
      <p:regular r:id="rId14"/>
    </p:embeddedFont>
    <p:embeddedFont>
      <p:font typeface="Manrope" panose="020B0604020202020204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55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936036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316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740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150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2458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2790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6793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187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8761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6026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6737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46978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53573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283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809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0776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26292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36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D7D2263-14D0-4661-9CAA-B2A169E4385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A24B5D7-71F2-4462-AC78-1FC5B1194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12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Uber Supply‑Demand Gap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presentation — Data analytics with AI. A concise, actionable briefing for product, operations, and analytics leaders on where supply shortfalls are occurring and how to close them.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40246"/>
            <a:ext cx="4200916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1574" y="1330325"/>
            <a:ext cx="404009" cy="404019"/>
          </a:xfrm>
          <a:prstGeom prst="roundRect">
            <a:avLst>
              <a:gd name="adj" fmla="val 6667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8942" y="136401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6135" y="1392039"/>
            <a:ext cx="348993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1. Business context &amp; objectives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6135" y="1774825"/>
            <a:ext cx="102939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supply-demand balance matters for revenue &amp; retention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574" y="2396034"/>
            <a:ext cx="404009" cy="404019"/>
          </a:xfrm>
          <a:prstGeom prst="roundRect">
            <a:avLst>
              <a:gd name="adj" fmla="val 6667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942" y="242971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6135" y="2457748"/>
            <a:ext cx="256573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2. Data &amp; methodology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36135" y="2840534"/>
            <a:ext cx="102939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Dataset, preparation, and analytics architecture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574" y="3461742"/>
            <a:ext cx="404009" cy="404019"/>
          </a:xfrm>
          <a:prstGeom prst="roundRect">
            <a:avLst>
              <a:gd name="adj" fmla="val 6667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942" y="3495427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6135" y="3523456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 Key insights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6135" y="3906242"/>
            <a:ext cx="102939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Demand peaks, unfulfilled clusters, airport patterns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574" y="4527451"/>
            <a:ext cx="404009" cy="404019"/>
          </a:xfrm>
          <a:prstGeom prst="roundRect">
            <a:avLst>
              <a:gd name="adj" fmla="val 6667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942" y="456113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6135" y="4589165"/>
            <a:ext cx="347018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4. Recommendations &amp; impact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36135" y="4971951"/>
            <a:ext cx="102939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Operational levers, incentives, forecasting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1574" y="5593159"/>
            <a:ext cx="404009" cy="404019"/>
          </a:xfrm>
          <a:prstGeom prst="roundRect">
            <a:avLst>
              <a:gd name="adj" fmla="val 66670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942" y="562684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6135" y="5654873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5. Next steps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36135" y="6037659"/>
            <a:ext cx="102939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 for analytics and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46139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Context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202087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Ride‑hailing platforms must match real‑time passenger demand with available drivers. Persistent mismatches drive cancellations, degrade NPS, and leak revenue. This analysis quantifies gaps and identifies tactical levers to improve fulfillment.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508845"/>
            <a:ext cx="4070645" cy="18403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2068314"/>
            <a:ext cx="475950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&amp; Preparation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729805"/>
            <a:ext cx="63366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6,745 requests (Jul 11–15, 2016). Mix of city and airport pickups with status, timestamps, driver IDs.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3504704"/>
            <a:ext cx="63366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Timestamp parsing &amp; timezone normalization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engineering: hour-slot, origin zone, request type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Time‑slot segmentation and unfulfilled request flags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 checks: dedup, missing driver IDs, outlier timestamps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673" y="1825526"/>
            <a:ext cx="4395181" cy="26086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86798" y="3723856"/>
            <a:ext cx="1092559" cy="42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Visualize &amp; Iterate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09875" y="3723856"/>
            <a:ext cx="1092559" cy="42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Query &amp; Aggregate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10502" y="3829092"/>
            <a:ext cx="1092559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574" y="4587776"/>
            <a:ext cx="692737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Pipeline: iterative EDA to identify patterns, SQL layer for ad‑hoc analysis, Streamlit for stakeholder exploration and decision support.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87207" y="716855"/>
            <a:ext cx="3822803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Analytical Tools</a:t>
            </a:r>
            <a:endParaRPr lang="en-US" sz="2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207" y="1272084"/>
            <a:ext cx="401627" cy="4016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87207" y="1844377"/>
            <a:ext cx="257525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 Data Analysis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987207" y="2231926"/>
            <a:ext cx="35491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Univariate &amp; temporal patterns, heatmaps of unfulfilled requests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7207" y="2980432"/>
            <a:ext cx="401627" cy="4016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87207" y="3552726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Analytics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987207" y="3940274"/>
            <a:ext cx="35491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Aggregations by hour, zone, and pickup type for fast business queries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7207" y="4688780"/>
            <a:ext cx="401627" cy="4016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87207" y="5261074"/>
            <a:ext cx="22280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Interactive Dashboard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987207" y="5648623"/>
            <a:ext cx="35491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Filters: date, hour, airport vs city, driver status; live charts for ops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13619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Demand &amp; Supply Patterns (Key Insights)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33360" y="2242046"/>
            <a:ext cx="3053877" cy="2009080"/>
          </a:xfrm>
          <a:prstGeom prst="roundRect">
            <a:avLst>
              <a:gd name="adj" fmla="val 14112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43740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Temporal Peaks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46090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Distinct morning (7–9 AM) and evening (5–8 PM) peaks with highest cancellation rates.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42046"/>
            <a:ext cx="3053976" cy="2009080"/>
          </a:xfrm>
          <a:prstGeom prst="roundRect">
            <a:avLst>
              <a:gd name="adj" fmla="val 14112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43740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Location Clusters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46090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Unfulfilled requests concentrate in specific neighborhoods and at airport terminals.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40138"/>
            <a:ext cx="6296860" cy="1404243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63550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Failure Modes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04418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'No Cars Available' often precedes cancellations; short windows between surge events worsen availability.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2483842"/>
            <a:ext cx="3402324" cy="1890216"/>
          </a:xfrm>
          <a:prstGeom prst="roundRect">
            <a:avLst>
              <a:gd name="adj" fmla="val 15000"/>
            </a:avLst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389" y="3248323"/>
            <a:ext cx="190495" cy="19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4726" y="3522960"/>
            <a:ext cx="2275922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650" dirty="0">
                <a:solidFill>
                  <a:srgbClr val="AEAE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There was an error generating this image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332776" y="1014611"/>
            <a:ext cx="520369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Airport vs City Performance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332776" y="2148582"/>
            <a:ext cx="520369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Airport pickups show persistent supply shortages across multiple time slots. Contributing factors: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2923480"/>
            <a:ext cx="5203695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simultaneous demand after flight arrivals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 reluctance due to airport fees, waiting time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Insufficient allocation of drivers during scheduled flight peaks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4477941"/>
            <a:ext cx="5203695" cy="1341834"/>
          </a:xfrm>
          <a:prstGeom prst="roundRect">
            <a:avLst>
              <a:gd name="adj" fmla="val 21130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4771033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4695230"/>
            <a:ext cx="440044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Recommendation: dedicated airport allocation windows and pre‑positioning based on flight schedules.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62596"/>
            <a:ext cx="591289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Representative SQL Insights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31854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Embedded SQL analyses surface rapid, actionable metrics for ops teams: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833588"/>
            <a:ext cx="629686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Hourly unfulfilled rate by zone — identifies 3 high‑risk hours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 acceptance lag distribution — median acceptance time spikes during peaks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Cancellation flow — 'No Cars Available' → cancellation within 90s in 45% of cases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69046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queries are exported to the Streamlit dashboard for operational use and ad‑hoc slicing by business users.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3385"/>
            <a:ext cx="6296860" cy="8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Recommendations (Tactical &amp; Strategic)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961" y="1727200"/>
            <a:ext cx="3088503" cy="21934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14440" y="1932087"/>
            <a:ext cx="257714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Dynamic driver incentives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514440" y="2595364"/>
            <a:ext cx="257714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Time-limited bonuses targeted to zones and 30‑min windows with high unfulfilled rates.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1618" y="1727200"/>
            <a:ext cx="3088602" cy="2193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48097" y="1932087"/>
            <a:ext cx="2577242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Airport allocation strategy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8748097" y="2595364"/>
            <a:ext cx="257724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Pre-position drivers using flight‑aware forecasts and guaranteed minimum earnings for airport waits.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961" y="4091186"/>
            <a:ext cx="3088503" cy="21934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14440" y="4296073"/>
            <a:ext cx="257714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Short‑term predictive forecasting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5514440" y="4959350"/>
            <a:ext cx="257714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Lightweight ML models for 15–60 minute horizon to trigger preemptive incentives.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1618" y="4091186"/>
            <a:ext cx="3088602" cy="219342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48097" y="4296073"/>
            <a:ext cx="2577242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Operational dashboards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8748097" y="4959350"/>
            <a:ext cx="257724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Streamlit views for ops with playbooks (reroute, incentives, surge adjustments).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91" y="609302"/>
            <a:ext cx="3560376" cy="5639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053" y="2327970"/>
            <a:ext cx="2959423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Impact &amp; Next Steps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66053" y="2686050"/>
            <a:ext cx="504018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outcomes from implementing recommendations: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66053" y="2897386"/>
            <a:ext cx="4430602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fulfillment rate → increased completed trips and revenue</a:t>
            </a:r>
            <a:endParaRPr lang="en-US" sz="90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 cancellations → improved NPS and retention</a:t>
            </a:r>
            <a:endParaRPr lang="en-US" sz="90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Better airport performance → reduced wait times and operational friction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766053" y="3454202"/>
            <a:ext cx="443060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90 days: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deploy forecasting prototype, run A/B on targeted incentives, implement airport allocation pilot.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766053" y="3829546"/>
            <a:ext cx="4430602" cy="480219"/>
          </a:xfrm>
          <a:prstGeom prst="roundRect">
            <a:avLst>
              <a:gd name="adj" fmla="val 35978"/>
            </a:avLst>
          </a:prstGeom>
          <a:solidFill>
            <a:srgbClr val="B3E7F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144" y="3987006"/>
            <a:ext cx="143963" cy="1150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40198" y="3921423"/>
            <a:ext cx="3941366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interactive slide deck: use the Streamlit dashboard to filter by date, hour, and zone; run SQL snippets to validate assumptions live.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61261" y="4388644"/>
            <a:ext cx="504018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— Questions &amp; Discussion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2</TotalTime>
  <Words>655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Manrope</vt:lpstr>
      <vt:lpstr>Alexandria Medium</vt:lpstr>
      <vt:lpstr>Impact</vt:lpstr>
      <vt:lpstr>Main Event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TECH-GENIUSES</dc:creator>
  <cp:lastModifiedBy>P Suman Sangeet</cp:lastModifiedBy>
  <cp:revision>2</cp:revision>
  <dcterms:created xsi:type="dcterms:W3CDTF">2026-06-10T06:01:53Z</dcterms:created>
  <dcterms:modified xsi:type="dcterms:W3CDTF">2026-06-10T06:04:26Z</dcterms:modified>
</cp:coreProperties>
</file>